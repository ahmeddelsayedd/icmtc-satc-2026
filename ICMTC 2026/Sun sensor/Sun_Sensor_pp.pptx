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notesMasterIdLst>
    <p:notesMasterId r:id="rId37"/>
  </p:notesMasterIdLst>
  <p:sldIdLst>
    <p:sldId id="256" r:id="rId14"/>
    <p:sldId id="257" r:id="rId15"/>
    <p:sldId id="258" r:id="rId16"/>
    <p:sldId id="259" r:id="rId17"/>
    <p:sldId id="263" r:id="rId18"/>
    <p:sldId id="264" r:id="rId19"/>
    <p:sldId id="266" r:id="rId20"/>
    <p:sldId id="267" r:id="rId21"/>
    <p:sldId id="265" r:id="rId22"/>
    <p:sldId id="269" r:id="rId23"/>
    <p:sldId id="270" r:id="rId24"/>
    <p:sldId id="271" r:id="rId25"/>
    <p:sldId id="273" r:id="rId26"/>
    <p:sldId id="260" r:id="rId27"/>
    <p:sldId id="261" r:id="rId28"/>
    <p:sldId id="262" r:id="rId29"/>
    <p:sldId id="282" r:id="rId30"/>
    <p:sldId id="274" r:id="rId31"/>
    <p:sldId id="280" r:id="rId32"/>
    <p:sldId id="281" r:id="rId33"/>
    <p:sldId id="276" r:id="rId34"/>
    <p:sldId id="278" r:id="rId35"/>
    <p:sldId id="279" r:id="rId3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viewProps" Target="view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150AE8-DCE4-45B2-8B80-15ECD474E88F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C8CE9A6-6419-4CE6-8D45-75AECC3FBAC7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6E95116-2E30-47EA-991B-744DA17842BC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B5D6E78-6752-4623-8FA8-D00F5C1C7BF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34EB671-D712-48D1-82D6-9C57C2FE2F9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00150AE8-DCE4-45B2-8B80-15ECD474E88F}" type="slidenum">
              <a:rPr lang="en-GB" sz="1400" b="0" strike="noStrike" spc="-1" smtClean="0">
                <a:solidFill>
                  <a:srgbClr val="000000"/>
                </a:solidFill>
                <a:latin typeface="Times New Roman"/>
              </a:rPr>
              <a:t>5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8533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00150AE8-DCE4-45B2-8B80-15ECD474E88F}" type="slidenum">
              <a:rPr lang="en-GB" sz="1400" b="0" strike="noStrike" spc="-1" smtClean="0">
                <a:solidFill>
                  <a:srgbClr val="000000"/>
                </a:solidFill>
                <a:latin typeface="Times New Roman"/>
              </a:rPr>
              <a:t>9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039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44BFAF-74F2-40C0-A25F-8D6C4804B18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D0A1C-C371-431C-A9B1-040D8E63F8C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3F02B6-7DC5-4CDF-B961-1A7C6EC8E2D1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3A41E7-34DE-4D6C-8E78-F803A559BC78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C2F909A-AA55-4D74-9C98-770DDAF410BA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24739C-96C8-45A4-B2CA-D970A64C0C9C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00150AE8-DCE4-45B2-8B80-15ECD474E88F}" type="slidenum">
              <a:rPr lang="en-GB" sz="1400" b="0" strike="noStrike" spc="-1" smtClean="0">
                <a:solidFill>
                  <a:srgbClr val="000000"/>
                </a:solidFill>
                <a:latin typeface="Times New Roman"/>
              </a:rPr>
              <a:t>18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55650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37F69-D3E8-4909-906F-9EA4D5029D45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297414-41C2-4C21-978C-6421B98CE626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E4C029-788B-4D31-93B4-EDA244CA6561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GB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52647D6-7C1D-4CAF-8AD9-DB1BD08A3CE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F57BFF2-D2CC-401D-837F-A75BC50722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415F13D-33B1-49D1-8CD3-AC1A0FF1C1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EDFC14C-7370-48DC-AD57-C6E32D2186B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0A02ADD-87E1-4532-87CB-147ABD3ACD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F977EC0-01DA-47F4-B6B1-03364941D51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6201EBF-8F20-46BB-A53D-CBC3EFCECB3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B92CBE8-4170-4105-9EAD-8E48A6AA86F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968F5A4-9E26-4568-AD18-EB991481338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6CA6049-7B12-44CB-BFF7-4E96F044E3E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B9E2EF7-355A-47AF-B0BC-E769357D2F7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64948-0E8F-4ACD-8BAE-FE2397BB247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38EA70-67EE-4B1F-8CD7-2055CED6738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24360A-BD7E-4EA2-A263-8E98A50C1724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06B4EA-ADC6-409A-8F6E-61BC521220A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5EB2C3-4552-46C6-9895-902789FAC506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A4EE-20F1-47C5-83A5-FC238A134C3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473DE1-A474-4A9E-BEA6-B15AC21CA14C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4D0CB5-A887-451E-87FE-0BF2100F59D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F1E5E-2830-4B75-9DE9-9835A1987CD6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32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lang="en-GB" sz="28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lang="en-GB" sz="24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lang="en-GB" sz="2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42E355-BA86-4374-BD2F-EBB642014F38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lang="en-GB"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lang="en-GB"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0A907-B2CC-4CCD-8BE8-2AAB41CC0902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7315200" y="-2468880"/>
            <a:ext cx="6583320" cy="658332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8138160" y="-1645920"/>
            <a:ext cx="4937400" cy="493740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8915400" y="-868680"/>
            <a:ext cx="3382920" cy="338292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10104120" y="320040"/>
            <a:ext cx="1005480" cy="100548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4"/>
          <p:cNvSpPr/>
          <p:nvPr/>
        </p:nvSpPr>
        <p:spPr>
          <a:xfrm>
            <a:off x="640080" y="1920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>
                <a:solidFill>
                  <a:srgbClr val="F5A623"/>
                </a:solidFill>
                <a:latin typeface="Calibri"/>
                <a:ea typeface="Calibri"/>
              </a:rPr>
              <a:t>ICMTC SATELLITE CHALLENGE  ·  SATC-6  ·  TASK II</a:t>
            </a:r>
            <a:endParaRPr lang="en-GB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594360" y="233172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FFFFF"/>
                </a:solidFill>
                <a:latin typeface="Cambria"/>
                <a:ea typeface="Cambria"/>
              </a:rPr>
              <a:t>Coarse Sun Sensor</a:t>
            </a:r>
            <a:endParaRPr lang="en-GB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640080" y="33375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strike="noStrike" spc="-1">
                <a:solidFill>
                  <a:srgbClr val="9FB0C9"/>
                </a:solidFill>
                <a:latin typeface="Calibri"/>
                <a:ea typeface="Calibri"/>
              </a:rPr>
              <a:t>Critical Design Review</a:t>
            </a:r>
            <a:endParaRPr lang="en-GB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640080" y="4160520"/>
            <a:ext cx="2926080" cy="360"/>
          </a:xfrm>
          <a:prstGeom prst="line">
            <a:avLst/>
          </a:prstGeom>
          <a:ln w="19050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8"/>
          <p:cNvSpPr/>
          <p:nvPr/>
        </p:nvSpPr>
        <p:spPr>
          <a:xfrm>
            <a:off x="640080" y="44348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9FB0C9"/>
                </a:solidFill>
                <a:latin typeface="Calibri"/>
                <a:ea typeface="Calibri"/>
              </a:rPr>
              <a:t>Team Name:  </a:t>
            </a: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AAST NOVA</a:t>
            </a:r>
            <a:endParaRPr lang="en-GB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640080" y="48006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9FB0C9"/>
                </a:solidFill>
                <a:latin typeface="Calibri"/>
                <a:ea typeface="Calibri"/>
              </a:rPr>
              <a:t>Roles:  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Electronics &amp; Firmware  ·  Software &amp; GUI  ·  Integration &amp; Test</a:t>
            </a:r>
            <a:endParaRPr lang="en-GB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40080" y="5166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FB0C9"/>
                </a:solidFill>
                <a:latin typeface="Calibri"/>
                <a:ea typeface="Calibri"/>
              </a:rPr>
              <a:t>2026</a:t>
            </a:r>
            <a:endParaRPr lang="en-GB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54C94A3-4260-8DB9-2542-958C580DB51A}"/>
              </a:ext>
            </a:extLst>
          </p:cNvPr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 A D M A P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85D135-9298-96A7-0A70-6ECDB1884FCB}"/>
              </a:ext>
            </a:extLst>
          </p:cNvPr>
          <p:cNvSpPr/>
          <p:nvPr/>
        </p:nvSpPr>
        <p:spPr>
          <a:xfrm>
            <a:off x="548640" y="749808"/>
            <a:ext cx="5012711" cy="719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7ACEC43-D75E-8A93-1FA6-F931B35E0A5A}"/>
              </a:ext>
            </a:extLst>
          </p:cNvPr>
          <p:cNvSpPr/>
          <p:nvPr/>
        </p:nvSpPr>
        <p:spPr>
          <a:xfrm>
            <a:off x="1083908" y="1444750"/>
            <a:ext cx="419486" cy="51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A2D5F95-3CCF-BB3D-AD32-73B15FED5B5D}"/>
              </a:ext>
            </a:extLst>
          </p:cNvPr>
          <p:cNvSpPr/>
          <p:nvPr/>
        </p:nvSpPr>
        <p:spPr>
          <a:xfrm>
            <a:off x="1752600" y="1335024"/>
            <a:ext cx="3329066" cy="73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Requirements</a:t>
            </a:r>
            <a:endParaRPr lang="en-US" sz="2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08A6E80-A9BE-BC48-34D1-390BD8FEDBA8}"/>
              </a:ext>
            </a:extLst>
          </p:cNvPr>
          <p:cNvSpPr/>
          <p:nvPr/>
        </p:nvSpPr>
        <p:spPr>
          <a:xfrm>
            <a:off x="1752599" y="1920240"/>
            <a:ext cx="3537680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role, mandatory minimums, and our competition strategy</a:t>
            </a:r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30F1FE1-495D-0DD9-79E6-2280C119BB53}"/>
              </a:ext>
            </a:extLst>
          </p:cNvPr>
          <p:cNvSpPr/>
          <p:nvPr/>
        </p:nvSpPr>
        <p:spPr>
          <a:xfrm>
            <a:off x="1043007" y="2523743"/>
            <a:ext cx="501289" cy="56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874BC49-398F-2E1E-0585-BABC1CE4B51F}"/>
              </a:ext>
            </a:extLst>
          </p:cNvPr>
          <p:cNvSpPr/>
          <p:nvPr/>
        </p:nvSpPr>
        <p:spPr>
          <a:xfrm>
            <a:off x="1752601" y="2569467"/>
            <a:ext cx="2489616" cy="539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</a:t>
            </a:r>
            <a:endParaRPr lang="en-US" sz="2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E79FD99-0693-5B46-4B55-3CA737569F0E}"/>
              </a:ext>
            </a:extLst>
          </p:cNvPr>
          <p:cNvSpPr/>
          <p:nvPr/>
        </p:nvSpPr>
        <p:spPr>
          <a:xfrm>
            <a:off x="1739733" y="3100813"/>
            <a:ext cx="3104213" cy="63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layout, routing, and component placement decisions</a:t>
            </a: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70DA730-6D18-08CA-3849-7B5632B91C51}"/>
              </a:ext>
            </a:extLst>
          </p:cNvPr>
          <p:cNvSpPr/>
          <p:nvPr/>
        </p:nvSpPr>
        <p:spPr>
          <a:xfrm>
            <a:off x="1041316" y="3712531"/>
            <a:ext cx="411979" cy="63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DB2EEAE-ACEA-BA5F-FB68-E37D2F0570B4}"/>
              </a:ext>
            </a:extLst>
          </p:cNvPr>
          <p:cNvSpPr/>
          <p:nvPr/>
        </p:nvSpPr>
        <p:spPr>
          <a:xfrm>
            <a:off x="1752600" y="3813048"/>
            <a:ext cx="2489617" cy="502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24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B562169-9C4D-6043-FECC-C34A9BFC9F69}"/>
              </a:ext>
            </a:extLst>
          </p:cNvPr>
          <p:cNvSpPr/>
          <p:nvPr/>
        </p:nvSpPr>
        <p:spPr>
          <a:xfrm>
            <a:off x="1752600" y="4317078"/>
            <a:ext cx="3200901" cy="60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hardware selections across the signal chain</a:t>
            </a:r>
            <a:endParaRPr lang="en-US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1EC28FC-4490-B6B7-F556-75D838DE057A}"/>
              </a:ext>
            </a:extLst>
          </p:cNvPr>
          <p:cNvSpPr/>
          <p:nvPr/>
        </p:nvSpPr>
        <p:spPr>
          <a:xfrm>
            <a:off x="1041316" y="4886491"/>
            <a:ext cx="411979" cy="55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520F1E1-EB4C-B4E5-9713-C3C08E472AE4}"/>
              </a:ext>
            </a:extLst>
          </p:cNvPr>
          <p:cNvSpPr/>
          <p:nvPr/>
        </p:nvSpPr>
        <p:spPr>
          <a:xfrm>
            <a:off x="1752600" y="4957774"/>
            <a:ext cx="3246120" cy="50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4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514B57D-14A8-915B-A296-1F5453A328EB}"/>
              </a:ext>
            </a:extLst>
          </p:cNvPr>
          <p:cNvSpPr/>
          <p:nvPr/>
        </p:nvSpPr>
        <p:spPr>
          <a:xfrm>
            <a:off x="1752600" y="5437839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view from photodiodes to ground display</a:t>
            </a:r>
            <a:endParaRPr lang="en-US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55E0E76-B220-53E6-10F5-7CAD1D425E7F}"/>
              </a:ext>
            </a:extLst>
          </p:cNvPr>
          <p:cNvSpPr/>
          <p:nvPr/>
        </p:nvSpPr>
        <p:spPr>
          <a:xfrm>
            <a:off x="6853755" y="1384315"/>
            <a:ext cx="2413601" cy="530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24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478264BD-AF56-FFED-981F-A02109ADFA70}"/>
              </a:ext>
            </a:extLst>
          </p:cNvPr>
          <p:cNvSpPr/>
          <p:nvPr/>
        </p:nvSpPr>
        <p:spPr>
          <a:xfrm>
            <a:off x="6853755" y="1787024"/>
            <a:ext cx="4067331" cy="87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architecture and control logic</a:t>
            </a:r>
            <a:endParaRPr lang="en-US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BB0A02C1-254F-D2E3-7CC1-6BA5F66C5B5F}"/>
              </a:ext>
            </a:extLst>
          </p:cNvPr>
          <p:cNvSpPr/>
          <p:nvPr/>
        </p:nvSpPr>
        <p:spPr>
          <a:xfrm>
            <a:off x="6792793" y="2554747"/>
            <a:ext cx="4282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24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8F6BB506-2D84-2F86-88AF-E18764293F66}"/>
              </a:ext>
            </a:extLst>
          </p:cNvPr>
          <p:cNvSpPr/>
          <p:nvPr/>
        </p:nvSpPr>
        <p:spPr>
          <a:xfrm>
            <a:off x="6781242" y="3167461"/>
            <a:ext cx="4282440" cy="694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Python/PyQt5 operator interface and telemetry display</a:t>
            </a:r>
            <a:endParaRPr lang="en-US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C23C937A-F284-B82C-F3F7-C3EDE06BCDD8}"/>
              </a:ext>
            </a:extLst>
          </p:cNvPr>
          <p:cNvSpPr/>
          <p:nvPr/>
        </p:nvSpPr>
        <p:spPr>
          <a:xfrm>
            <a:off x="6792793" y="4109847"/>
            <a:ext cx="2632275" cy="36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</a:t>
            </a:r>
            <a:endParaRPr lang="en-US" sz="24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E0485C4-B6F5-3239-7567-987985403211}"/>
              </a:ext>
            </a:extLst>
          </p:cNvPr>
          <p:cNvSpPr/>
          <p:nvPr/>
        </p:nvSpPr>
        <p:spPr>
          <a:xfrm>
            <a:off x="6792793" y="4365124"/>
            <a:ext cx="4282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ML-based enhancements, and next steps</a:t>
            </a:r>
            <a:endParaRPr lang="en-US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5CCED833-7428-F82E-0B05-7C5AAFB7A920}"/>
              </a:ext>
            </a:extLst>
          </p:cNvPr>
          <p:cNvSpPr/>
          <p:nvPr/>
        </p:nvSpPr>
        <p:spPr>
          <a:xfrm>
            <a:off x="548640" y="6518012"/>
            <a:ext cx="2181694" cy="294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Sun Sensor CDR</a:t>
            </a:r>
            <a:endParaRPr lang="en-US" sz="10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4AA687BB-5B05-1DDC-0592-F6228CE5032B}"/>
              </a:ext>
            </a:extLst>
          </p:cNvPr>
          <p:cNvSpPr/>
          <p:nvPr/>
        </p:nvSpPr>
        <p:spPr>
          <a:xfrm>
            <a:off x="6280122" y="1384315"/>
            <a:ext cx="419486" cy="51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0B7C4312-38FD-F2CA-97CB-A09B6A4DA00D}"/>
              </a:ext>
            </a:extLst>
          </p:cNvPr>
          <p:cNvSpPr/>
          <p:nvPr/>
        </p:nvSpPr>
        <p:spPr>
          <a:xfrm>
            <a:off x="6216730" y="2685794"/>
            <a:ext cx="501289" cy="56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EF6940FB-BF95-5154-888A-EE24432DE269}"/>
              </a:ext>
            </a:extLst>
          </p:cNvPr>
          <p:cNvSpPr/>
          <p:nvPr/>
        </p:nvSpPr>
        <p:spPr>
          <a:xfrm>
            <a:off x="6216730" y="3972358"/>
            <a:ext cx="411979" cy="63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3A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MISSION CONTEXT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7635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Role of a Coarse Sun Sensor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556200" y="1645920"/>
            <a:ext cx="594324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 Without knowing where the sun is, a satellite can lose power, overheat, or lose control entirely.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1. Attitude Determination: The primary mission is to tell the spacecraft where the Sun is relative to its body.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2.Attitude control: Orienting the satellite so it points to the desired aim. For solar panels, antennas, pointing cameras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3. Safe Mode Recovery: the satellite's last-resort failsafe when other systems fail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4.Protecting Sensitive Instruments: Some cameras, telescopes, and scientific instruments can be damaged by direct sunlight or high temperature.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406640" y="1645920"/>
            <a:ext cx="4205880" cy="4297320"/>
          </a:xfrm>
          <a:prstGeom prst="roundRect">
            <a:avLst>
              <a:gd name="adj" fmla="val 2609"/>
            </a:avLst>
          </a:prstGeom>
          <a:solidFill>
            <a:srgbClr val="0B1B33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8641080" y="1737360"/>
            <a:ext cx="1737000" cy="1737000"/>
          </a:xfrm>
          <a:prstGeom prst="ellipse">
            <a:avLst/>
          </a:prstGeom>
          <a:noFill/>
          <a:ln w="12700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8869680" y="1965960"/>
            <a:ext cx="1279800" cy="1279800"/>
          </a:xfrm>
          <a:prstGeom prst="ellipse">
            <a:avLst/>
          </a:prstGeom>
          <a:noFill/>
          <a:ln w="12700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9144000" y="2240280"/>
            <a:ext cx="731160" cy="73116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Shape 7"/>
          <p:cNvSpPr/>
          <p:nvPr/>
        </p:nvSpPr>
        <p:spPr>
          <a:xfrm flipV="1">
            <a:off x="6897960" y="4797000"/>
            <a:ext cx="2611800" cy="460800"/>
          </a:xfrm>
          <a:prstGeom prst="line">
            <a:avLst/>
          </a:prstGeom>
          <a:ln w="12700">
            <a:solidFill>
              <a:srgbClr val="1B3A6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Shape 8"/>
          <p:cNvSpPr/>
          <p:nvPr/>
        </p:nvSpPr>
        <p:spPr>
          <a:xfrm flipV="1">
            <a:off x="7805160" y="3226320"/>
            <a:ext cx="1704600" cy="2031480"/>
          </a:xfrm>
          <a:prstGeom prst="line">
            <a:avLst/>
          </a:prstGeom>
          <a:ln w="12700">
            <a:solidFill>
              <a:srgbClr val="1B3A6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9"/>
          <p:cNvSpPr/>
          <p:nvPr/>
        </p:nvSpPr>
        <p:spPr>
          <a:xfrm flipV="1">
            <a:off x="9509760" y="2606040"/>
            <a:ext cx="9000" cy="2651760"/>
          </a:xfrm>
          <a:prstGeom prst="line">
            <a:avLst/>
          </a:prstGeom>
          <a:ln w="22225">
            <a:solidFill>
              <a:srgbClr val="F5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Shape 10"/>
          <p:cNvSpPr/>
          <p:nvPr/>
        </p:nvSpPr>
        <p:spPr>
          <a:xfrm flipV="1">
            <a:off x="9509760" y="3226320"/>
            <a:ext cx="1704240" cy="2031480"/>
          </a:xfrm>
          <a:prstGeom prst="line">
            <a:avLst/>
          </a:prstGeom>
          <a:ln w="12700">
            <a:solidFill>
              <a:srgbClr val="1B3A6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Shape 11"/>
          <p:cNvSpPr/>
          <p:nvPr/>
        </p:nvSpPr>
        <p:spPr>
          <a:xfrm flipV="1">
            <a:off x="9509760" y="4797000"/>
            <a:ext cx="2611440" cy="460800"/>
          </a:xfrm>
          <a:prstGeom prst="line">
            <a:avLst/>
          </a:prstGeom>
          <a:ln w="12700">
            <a:solidFill>
              <a:srgbClr val="1B3A6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Shape 12"/>
          <p:cNvSpPr/>
          <p:nvPr/>
        </p:nvSpPr>
        <p:spPr>
          <a:xfrm>
            <a:off x="9006840" y="5184720"/>
            <a:ext cx="1005480" cy="20088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7406640" y="55778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±80° FIELD OF VIEW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7406640" y="587952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FB0C9"/>
                </a:solidFill>
                <a:latin typeface="Calibri"/>
                <a:ea typeface="Calibri"/>
              </a:rPr>
              <a:t>(mandatory minimum: ±60°)</a:t>
            </a:r>
            <a:endParaRPr lang="en-GB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DESIGN TARGETS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Requirements &amp; Competition Strategy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48640" y="142488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5C6B85"/>
                </a:solidFill>
                <a:latin typeface="Calibri"/>
                <a:ea typeface="Calibri"/>
              </a:rPr>
              <a:t>Our strategy targets bonus-scoring performance, not just minimum compliance. Every headline spec is designed with margin above the mandatory floor.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7" name="Table 0"/>
          <p:cNvGraphicFramePr/>
          <p:nvPr/>
        </p:nvGraphicFramePr>
        <p:xfrm>
          <a:off x="548640" y="2057400"/>
          <a:ext cx="11109960" cy="237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Parameter</a:t>
                      </a:r>
                      <a:endParaRPr lang="en-GB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Mandatory Minimum</a:t>
                      </a:r>
                      <a:endParaRPr lang="en-GB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Our Design Target</a:t>
                      </a:r>
                      <a:endParaRPr lang="en-GB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Margin</a:t>
                      </a:r>
                      <a:endParaRPr lang="en-GB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rgbClr val="0B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Field of View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±60°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±80°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+33%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Update Rate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5 Hz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10 Hz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2×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Sun Channels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1 axis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4 photodiodes (2-axis)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Full coverage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Thermal Monitoring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Not required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Dual DS18B20 sensors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strike="noStrike" spc="-1">
                          <a:solidFill>
                            <a:srgbClr val="142238"/>
                          </a:solidFill>
                          <a:latin typeface="Calibri"/>
                          <a:ea typeface="Calibri"/>
                        </a:rPr>
                        <a:t>Added robustness</a:t>
                      </a:r>
                      <a:endParaRPr lang="en-GB" sz="16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EE"/>
                      </a:solidFill>
                      <a:prstDash val="solid"/>
                    </a:lnL>
                    <a:lnR w="9360">
                      <a:solidFill>
                        <a:srgbClr val="DCE3EE"/>
                      </a:solidFill>
                      <a:prstDash val="solid"/>
                    </a:lnR>
                    <a:lnT w="9360">
                      <a:solidFill>
                        <a:srgbClr val="DCE3EE"/>
                      </a:solidFill>
                      <a:prstDash val="solid"/>
                    </a:lnT>
                    <a:lnB w="9360">
                      <a:solidFill>
                        <a:srgbClr val="DCE3EE"/>
                      </a:solidFill>
                      <a:prstDash val="soli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Text 6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Components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6"/>
          <p:cNvSpPr/>
          <p:nvPr/>
        </p:nvSpPr>
        <p:spPr>
          <a:xfrm>
            <a:off x="548640" y="1227240"/>
            <a:ext cx="6913080" cy="535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1. ESP32-S (Microcontroller)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Controls the entire sun sensor system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Reads ADC data via I²C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Polls temperature sensors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Executes sun-detection algorithm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Controls status LEDs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Sends telemetry to the GUI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Advantages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Dual-core processor for fast data processing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Built-in Wi-Fi and Bluetooth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Large number of GPIO pins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Low cost.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Extensive Arduino library support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17" descr="NodeMCU-32S WiFi Bluetooth BLE IoT Dev Board"/>
          <p:cNvPicPr/>
          <p:nvPr/>
        </p:nvPicPr>
        <p:blipFill>
          <a:blip r:embed="rId3"/>
          <a:stretch/>
        </p:blipFill>
        <p:spPr>
          <a:xfrm>
            <a:off x="6990480" y="1487520"/>
            <a:ext cx="4544640" cy="4544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Components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617760" y="1344240"/>
            <a:ext cx="6489000" cy="37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2. ADS1115 (16-bit ADC)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Converts amplified photodiode voltages into digital values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Transfers data to the ESP32 via I²C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Advantages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High 16-bit resolution for accurate measurements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Built-in Programmable Gain Amplifier (PGA)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Simple I²C interface (SDA &amp; SCL)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Multiple selectable I²C addresses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Low-noise performance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5" descr="4-channel ADS1115 Small 16-bit ADC High Precision Analog to Digital  Converter"/>
          <p:cNvPicPr/>
          <p:nvPr/>
        </p:nvPicPr>
        <p:blipFill>
          <a:blip r:embed="rId2"/>
          <a:stretch/>
        </p:blipFill>
        <p:spPr>
          <a:xfrm>
            <a:off x="7362720" y="2180880"/>
            <a:ext cx="4371480" cy="3095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Components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617760" y="1344240"/>
            <a:ext cx="6095520" cy="37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b="1" spc="-1" dirty="0">
                <a:solidFill>
                  <a:schemeClr val="dk1"/>
                </a:solidFill>
                <a:latin typeface="Calibri"/>
              </a:rPr>
              <a:t>3</a:t>
            </a: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. LM358P (Dual Operational Amplifier)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Implements the Transimpedance Amplifier (TIA)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Converts photodiode current into measurable voltage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Advantages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Two op-amps in one package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Operates from a single power supply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Low power consumption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Low cost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Suitable for low-speed sensor applications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Picture 5" descr="LM358P Texas Instruments | Instrumentation, Op Amps, Buffer Amps | DigiKey"/>
          <p:cNvPicPr/>
          <p:nvPr/>
        </p:nvPicPr>
        <p:blipFill>
          <a:blip r:embed="rId2"/>
          <a:stretch/>
        </p:blipFill>
        <p:spPr>
          <a:xfrm>
            <a:off x="7246080" y="1001160"/>
            <a:ext cx="4327920" cy="4327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Components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697044" y="1327396"/>
            <a:ext cx="6095520" cy="3785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b="1" spc="-1" dirty="0">
                <a:solidFill>
                  <a:schemeClr val="dk1"/>
                </a:solidFill>
                <a:latin typeface="Calibri"/>
              </a:rPr>
              <a:t>4</a:t>
            </a: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. DS18B20 (Digital Temperature Sensor)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Measures temperature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Provides thermal monitoring and calibration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Advantages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Digital output (no analog conditioning required)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High accuracy (±0.5°C)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OneWire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interface reduces wiring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Unique factory-programmed ID for each sensor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Low power and compact size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Picture 6" descr="Buy DS18B20 Temperature Sensor Integrated TO-92 at an affordable price -  Direnc.net®"/>
          <p:cNvPicPr/>
          <p:nvPr/>
        </p:nvPicPr>
        <p:blipFill>
          <a:blip r:embed="rId2"/>
          <a:stretch/>
        </p:blipFill>
        <p:spPr>
          <a:xfrm>
            <a:off x="7557480" y="1467000"/>
            <a:ext cx="3506400" cy="3506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Components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617760" y="1344240"/>
            <a:ext cx="7395480" cy="42011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b="1" spc="-1" dirty="0">
                <a:solidFill>
                  <a:schemeClr val="dk1"/>
                </a:solidFill>
                <a:latin typeface="Calibri"/>
              </a:rPr>
              <a:t>5</a:t>
            </a: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. BPW34 (Silicon Photodiode)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Detects sunlight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Converts incident light into photocurrent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Provides four sensing channels for angle estimation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Calibri"/>
              </a:rPr>
              <a:t>Advantages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Wide spectral response </a:t>
            </a:r>
            <a:r>
              <a:rPr lang="en-US" b="0" strike="noStrike" spc="-1" dirty="0">
                <a:solidFill>
                  <a:schemeClr val="dk1"/>
                </a:solidFill>
                <a:latin typeface="Calibri"/>
              </a:rPr>
              <a:t>(Visible (430 to 680 nm)+ Near-IR (1100 nm)) 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Fast response time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Low cost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Easy to integrate into sensor arrays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Stable and well-characterized performance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Picture 1" descr="BPW34 Photodiode Vishay - Visible + IR, Si Through-Hole | HackSpark"/>
          <p:cNvPicPr/>
          <p:nvPr/>
        </p:nvPicPr>
        <p:blipFill>
          <a:blip r:embed="rId3"/>
          <a:stretch/>
        </p:blipFill>
        <p:spPr>
          <a:xfrm>
            <a:off x="8013240" y="1678680"/>
            <a:ext cx="3535200" cy="3535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548640" y="745371"/>
            <a:ext cx="6451768" cy="50800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sz="2000" b="1" strike="noStrike" spc="-1" dirty="0">
                <a:solidFill>
                  <a:schemeClr val="dk1"/>
                </a:solidFill>
                <a:latin typeface="Calibri"/>
              </a:rPr>
              <a:t>Cross-shaped wall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Separates the four photodiodes to limit each sensor's field of view.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Reduces stray light and optical crosstalk.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Improves angle estimation accuracy.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Enables the required field of view (up to ±80° depending on the geometry).</a:t>
            </a: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chemeClr val="dk1"/>
                </a:solidFill>
                <a:latin typeface="Calibri"/>
              </a:rPr>
              <a:t>The equation used is </a:t>
            </a:r>
            <a:r>
              <a:rPr lang="en-US" spc="-1" dirty="0">
                <a:solidFill>
                  <a:schemeClr val="dk1"/>
                </a:solidFill>
                <a:latin typeface="Calibri"/>
              </a:rPr>
              <a:t>θ=tan−1(d/h​) </a:t>
            </a: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chemeClr val="dk1"/>
                </a:solidFill>
                <a:latin typeface="Calibri"/>
              </a:rPr>
              <a:t>Dimensions 50*50mm</a:t>
            </a: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chemeClr val="dk1"/>
                </a:solidFill>
                <a:latin typeface="Calibri"/>
              </a:rPr>
              <a:t>Wall thickness 2mm</a:t>
            </a: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chemeClr val="dk1"/>
                </a:solidFill>
                <a:latin typeface="Calibri"/>
              </a:rPr>
              <a:t>Wall height 8mm</a:t>
            </a: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chemeClr val="dk1"/>
                </a:solidFill>
                <a:latin typeface="Calibri"/>
              </a:rPr>
              <a:t>Quadrant size 24x24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381109-E5AA-AE27-4C69-FEB87F13DD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148290" y="963914"/>
            <a:ext cx="4723726" cy="46429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SYSTEM DESIGN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End-to-End System Architecture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457200" y="2286000"/>
            <a:ext cx="1965600" cy="157716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1193400" y="2450520"/>
            <a:ext cx="585000" cy="585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0" name="Image 0" descr="preencoded.png"/>
          <p:cNvPicPr/>
          <p:nvPr/>
        </p:nvPicPr>
        <p:blipFill>
          <a:blip r:embed="rId3"/>
          <a:stretch/>
        </p:blipFill>
        <p:spPr>
          <a:xfrm>
            <a:off x="1345320" y="2602800"/>
            <a:ext cx="280440" cy="280440"/>
          </a:xfrm>
          <a:prstGeom prst="rect">
            <a:avLst/>
          </a:prstGeom>
          <a:ln w="0">
            <a:noFill/>
          </a:ln>
        </p:spPr>
      </p:pic>
      <p:sp>
        <p:nvSpPr>
          <p:cNvPr id="191" name="Text 4"/>
          <p:cNvSpPr/>
          <p:nvPr/>
        </p:nvSpPr>
        <p:spPr>
          <a:xfrm>
            <a:off x="621720" y="3127320"/>
            <a:ext cx="1728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4× BPW34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Photodiodes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533520" y="3493080"/>
            <a:ext cx="1816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C6B85"/>
                </a:solidFill>
                <a:latin typeface="Calibri"/>
                <a:ea typeface="Calibri"/>
              </a:rPr>
              <a:t>Silicon sun-angle sensing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2423160" y="2994480"/>
            <a:ext cx="434160" cy="360"/>
          </a:xfrm>
          <a:prstGeom prst="line">
            <a:avLst/>
          </a:prstGeom>
          <a:ln w="28575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2857680" y="2286000"/>
            <a:ext cx="1874160" cy="16639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502080" y="2450520"/>
            <a:ext cx="585000" cy="585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6" name="Image 1" descr="preencoded.png"/>
          <p:cNvPicPr/>
          <p:nvPr/>
        </p:nvPicPr>
        <p:blipFill>
          <a:blip r:embed="rId4"/>
          <a:stretch/>
        </p:blipFill>
        <p:spPr>
          <a:xfrm>
            <a:off x="3654360" y="2602800"/>
            <a:ext cx="280440" cy="280440"/>
          </a:xfrm>
          <a:prstGeom prst="rect">
            <a:avLst/>
          </a:prstGeom>
          <a:ln w="0">
            <a:noFill/>
          </a:ln>
        </p:spPr>
      </p:pic>
      <p:sp>
        <p:nvSpPr>
          <p:cNvPr id="197" name="Text 9"/>
          <p:cNvSpPr/>
          <p:nvPr/>
        </p:nvSpPr>
        <p:spPr>
          <a:xfrm>
            <a:off x="2930760" y="3127320"/>
            <a:ext cx="1728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TIA Stage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LM358P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2784240" y="3493080"/>
            <a:ext cx="2020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C6B85"/>
                </a:solidFill>
                <a:latin typeface="Calibri"/>
                <a:ea typeface="Calibri"/>
              </a:rPr>
              <a:t>Inverting transimpedance amp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4731840" y="2994480"/>
            <a:ext cx="434520" cy="360"/>
          </a:xfrm>
          <a:prstGeom prst="line">
            <a:avLst/>
          </a:prstGeom>
          <a:ln w="28575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5166360" y="2286000"/>
            <a:ext cx="1874160" cy="16639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Shape 13"/>
          <p:cNvSpPr/>
          <p:nvPr/>
        </p:nvSpPr>
        <p:spPr>
          <a:xfrm>
            <a:off x="5811120" y="2450520"/>
            <a:ext cx="585000" cy="585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2" name="Image 2" descr="preencoded.png"/>
          <p:cNvPicPr/>
          <p:nvPr/>
        </p:nvPicPr>
        <p:blipFill>
          <a:blip r:embed="rId5"/>
          <a:stretch/>
        </p:blipFill>
        <p:spPr>
          <a:xfrm>
            <a:off x="5963040" y="2602800"/>
            <a:ext cx="280440" cy="280440"/>
          </a:xfrm>
          <a:prstGeom prst="rect">
            <a:avLst/>
          </a:prstGeom>
          <a:ln w="0">
            <a:noFill/>
          </a:ln>
        </p:spPr>
      </p:pic>
      <p:sp>
        <p:nvSpPr>
          <p:cNvPr id="203" name="Text 14"/>
          <p:cNvSpPr/>
          <p:nvPr/>
        </p:nvSpPr>
        <p:spPr>
          <a:xfrm>
            <a:off x="5239440" y="3127320"/>
            <a:ext cx="1728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ADS1115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16-bit ADC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5239440" y="3493080"/>
            <a:ext cx="1728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C6B85"/>
                </a:solidFill>
                <a:latin typeface="Calibri"/>
                <a:ea typeface="Calibri"/>
              </a:rPr>
              <a:t>I²C, GPIO21/22 · 0x48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6"/>
          <p:cNvSpPr/>
          <p:nvPr/>
        </p:nvSpPr>
        <p:spPr>
          <a:xfrm>
            <a:off x="7040880" y="2994480"/>
            <a:ext cx="434160" cy="360"/>
          </a:xfrm>
          <a:prstGeom prst="line">
            <a:avLst/>
          </a:prstGeom>
          <a:ln w="28575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Shape 17"/>
          <p:cNvSpPr/>
          <p:nvPr/>
        </p:nvSpPr>
        <p:spPr>
          <a:xfrm>
            <a:off x="7475400" y="2286000"/>
            <a:ext cx="1874160" cy="1663920"/>
          </a:xfrm>
          <a:prstGeom prst="roundRect">
            <a:avLst>
              <a:gd name="adj" fmla="val 6452"/>
            </a:avLst>
          </a:prstGeom>
          <a:solidFill>
            <a:srgbClr val="EEF2F8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Shape 18"/>
          <p:cNvSpPr/>
          <p:nvPr/>
        </p:nvSpPr>
        <p:spPr>
          <a:xfrm>
            <a:off x="8119800" y="2450520"/>
            <a:ext cx="585000" cy="585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8" name="Image 3" descr="preencoded.png"/>
          <p:cNvPicPr/>
          <p:nvPr/>
        </p:nvPicPr>
        <p:blipFill>
          <a:blip r:embed="rId6"/>
          <a:stretch/>
        </p:blipFill>
        <p:spPr>
          <a:xfrm>
            <a:off x="8272080" y="2602800"/>
            <a:ext cx="280440" cy="280440"/>
          </a:xfrm>
          <a:prstGeom prst="rect">
            <a:avLst/>
          </a:prstGeom>
          <a:ln w="0">
            <a:noFill/>
          </a:ln>
        </p:spPr>
      </p:pic>
      <p:sp>
        <p:nvSpPr>
          <p:cNvPr id="209" name="Text 19"/>
          <p:cNvSpPr/>
          <p:nvPr/>
        </p:nvSpPr>
        <p:spPr>
          <a:xfrm>
            <a:off x="7548480" y="3127320"/>
            <a:ext cx="1728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ESP32-S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42238"/>
                </a:solidFill>
                <a:latin typeface="Cambria"/>
                <a:ea typeface="Cambria"/>
              </a:rPr>
              <a:t>MCU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7548480" y="3493080"/>
            <a:ext cx="1728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C6B85"/>
                </a:solidFill>
                <a:latin typeface="Calibri"/>
                <a:ea typeface="Calibri"/>
              </a:rPr>
              <a:t>Acquisition &amp; control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9349560" y="2994480"/>
            <a:ext cx="434520" cy="360"/>
          </a:xfrm>
          <a:prstGeom prst="line">
            <a:avLst/>
          </a:prstGeom>
          <a:ln w="28575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9784080" y="2286000"/>
            <a:ext cx="1874160" cy="1663920"/>
          </a:xfrm>
          <a:prstGeom prst="roundRect">
            <a:avLst>
              <a:gd name="adj" fmla="val 6452"/>
            </a:avLst>
          </a:prstGeom>
          <a:solidFill>
            <a:srgbClr val="0B1B33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Shape 23"/>
          <p:cNvSpPr/>
          <p:nvPr/>
        </p:nvSpPr>
        <p:spPr>
          <a:xfrm>
            <a:off x="10428840" y="2450520"/>
            <a:ext cx="585000" cy="585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4" name="Image 4" descr="preencoded.png"/>
          <p:cNvPicPr/>
          <p:nvPr/>
        </p:nvPicPr>
        <p:blipFill>
          <a:blip r:embed="rId7"/>
          <a:stretch/>
        </p:blipFill>
        <p:spPr>
          <a:xfrm>
            <a:off x="10580760" y="2602800"/>
            <a:ext cx="280440" cy="280440"/>
          </a:xfrm>
          <a:prstGeom prst="rect">
            <a:avLst/>
          </a:prstGeom>
          <a:ln w="0">
            <a:noFill/>
          </a:ln>
        </p:spPr>
      </p:pic>
      <p:sp>
        <p:nvSpPr>
          <p:cNvPr id="215" name="Text 24"/>
          <p:cNvSpPr/>
          <p:nvPr/>
        </p:nvSpPr>
        <p:spPr>
          <a:xfrm>
            <a:off x="9857160" y="3127320"/>
            <a:ext cx="1728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Python GUI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(Ground)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5"/>
          <p:cNvSpPr/>
          <p:nvPr/>
        </p:nvSpPr>
        <p:spPr>
          <a:xfrm>
            <a:off x="9857160" y="3493080"/>
            <a:ext cx="1728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9FB0C9"/>
                </a:solidFill>
                <a:latin typeface="Calibri"/>
                <a:ea typeface="Calibri"/>
              </a:rPr>
              <a:t>Real-time visualization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6"/>
          <p:cNvSpPr/>
          <p:nvPr/>
        </p:nvSpPr>
        <p:spPr>
          <a:xfrm>
            <a:off x="7257960" y="3703320"/>
            <a:ext cx="360" cy="685800"/>
          </a:xfrm>
          <a:prstGeom prst="line">
            <a:avLst/>
          </a:prstGeom>
          <a:ln w="19050">
            <a:solidFill>
              <a:srgbClr val="1B3A6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Shape 27"/>
          <p:cNvSpPr/>
          <p:nvPr/>
        </p:nvSpPr>
        <p:spPr>
          <a:xfrm>
            <a:off x="6217920" y="4389120"/>
            <a:ext cx="2514240" cy="868320"/>
          </a:xfrm>
          <a:prstGeom prst="roundRect">
            <a:avLst>
              <a:gd name="adj" fmla="val 9474"/>
            </a:avLst>
          </a:prstGeom>
          <a:solidFill>
            <a:srgbClr val="EEF2F8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Text 28"/>
          <p:cNvSpPr/>
          <p:nvPr/>
        </p:nvSpPr>
        <p:spPr>
          <a:xfrm>
            <a:off x="6217920" y="4389120"/>
            <a:ext cx="2514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142238"/>
                </a:solidFill>
                <a:latin typeface="Calibri"/>
                <a:ea typeface="Calibri"/>
              </a:rPr>
              <a:t>2× DS18B20 Temp Sensors  +  Status LEDs (Green / Yellow)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9"/>
          <p:cNvSpPr/>
          <p:nvPr/>
        </p:nvSpPr>
        <p:spPr>
          <a:xfrm>
            <a:off x="548640" y="5989320"/>
            <a:ext cx="11109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C6B85"/>
                </a:solidFill>
                <a:latin typeface="Calibri"/>
                <a:ea typeface="Calibri"/>
              </a:rPr>
              <a:t>Signal flows left to right: analog sun-angle sensing, conditioning, digitization, onboard processing, then wireless/serial reporting to the ground GUI.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HARDWARE · ANALOG FRONT END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Photodiode Array &amp; Signal Conditioning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317520" y="1376640"/>
            <a:ext cx="6723000" cy="1298160"/>
          </a:xfrm>
          <a:prstGeom prst="roundRect">
            <a:avLst>
              <a:gd name="adj" fmla="val 6338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441720" y="1614240"/>
            <a:ext cx="822600" cy="8226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6" name="Image 0" descr="preencoded.png"/>
          <p:cNvPicPr/>
          <p:nvPr/>
        </p:nvPicPr>
        <p:blipFill>
          <a:blip r:embed="rId3"/>
          <a:stretch/>
        </p:blipFill>
        <p:spPr>
          <a:xfrm>
            <a:off x="655560" y="182844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27" name="Text 4"/>
          <p:cNvSpPr/>
          <p:nvPr/>
        </p:nvSpPr>
        <p:spPr>
          <a:xfrm>
            <a:off x="1419840" y="14626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4× BPW34 Silicon Photodiodes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1419840" y="1828440"/>
            <a:ext cx="5437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5C6B85"/>
                </a:solidFill>
                <a:latin typeface="Calibri"/>
                <a:ea typeface="Calibri"/>
              </a:rPr>
              <a:t>Arranged for multi-axis sun-angle discrimination; wide spectral response in the visible/near-IR band matches solar irradiance.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317520" y="2858040"/>
            <a:ext cx="6723000" cy="1298160"/>
          </a:xfrm>
          <a:prstGeom prst="roundRect">
            <a:avLst>
              <a:gd name="adj" fmla="val 6338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441720" y="3095640"/>
            <a:ext cx="822600" cy="8226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1" name="Image 1" descr="preencoded.png"/>
          <p:cNvPicPr/>
          <p:nvPr/>
        </p:nvPicPr>
        <p:blipFill>
          <a:blip r:embed="rId4"/>
          <a:stretch/>
        </p:blipFill>
        <p:spPr>
          <a:xfrm>
            <a:off x="655560" y="330984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32" name="Text 8"/>
          <p:cNvSpPr/>
          <p:nvPr/>
        </p:nvSpPr>
        <p:spPr>
          <a:xfrm>
            <a:off x="1419840" y="29440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Inverting Transimpedance Stage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1419840" y="3309840"/>
            <a:ext cx="5074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5C6B85"/>
                </a:solidFill>
                <a:latin typeface="Calibri"/>
                <a:ea typeface="Calibri"/>
              </a:rPr>
              <a:t>Each photodiode feeds a dedicated inverting TIA, converting photocurrent to a clean, amplified voltage.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317520" y="4339440"/>
            <a:ext cx="6723000" cy="1682640"/>
          </a:xfrm>
          <a:prstGeom prst="roundRect">
            <a:avLst>
              <a:gd name="adj" fmla="val 6338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441720" y="4577040"/>
            <a:ext cx="822600" cy="8226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6" name="Image 2" descr="preencoded.png"/>
          <p:cNvPicPr/>
          <p:nvPr/>
        </p:nvPicPr>
        <p:blipFill>
          <a:blip r:embed="rId5"/>
          <a:stretch/>
        </p:blipFill>
        <p:spPr>
          <a:xfrm>
            <a:off x="655560" y="479088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237" name="Text 12"/>
          <p:cNvSpPr/>
          <p:nvPr/>
        </p:nvSpPr>
        <p:spPr>
          <a:xfrm>
            <a:off x="1297440" y="4482720"/>
            <a:ext cx="583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Dual LM358P Op-Amps, Feedback resistor + 12 pF Compensation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1324800" y="4985640"/>
            <a:ext cx="5715720" cy="128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strike="noStrike" spc="-1">
                <a:solidFill>
                  <a:srgbClr val="5C6B85"/>
                </a:solidFill>
                <a:latin typeface="Calibri"/>
                <a:ea typeface="Calibri"/>
              </a:rPr>
              <a:t>Low-power dual op-amps set gain via 100 kΩ feedback resistors, with a 12 pF capacitor in parallel across each feedback resistor to limit bandwidth and suppress high-frequency noise/oscillation — balancing sensitivity against noise and saturation margin.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4"/>
          <p:cNvSpPr/>
          <p:nvPr/>
        </p:nvSpPr>
        <p:spPr>
          <a:xfrm>
            <a:off x="7406640" y="1344240"/>
            <a:ext cx="4251600" cy="4677840"/>
          </a:xfrm>
          <a:prstGeom prst="roundRect">
            <a:avLst>
              <a:gd name="adj" fmla="val 2581"/>
            </a:avLst>
          </a:prstGeom>
          <a:solidFill>
            <a:srgbClr val="0B1B33"/>
          </a:solid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7772400" y="150840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148">
                <a:solidFill>
                  <a:srgbClr val="F5A623"/>
                </a:solidFill>
                <a:latin typeface="Calibri"/>
                <a:ea typeface="Calibri"/>
              </a:rPr>
              <a:t>PER-CHANNEL SIGNAL CHAIN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7772400" y="1946160"/>
            <a:ext cx="3520080" cy="621360"/>
          </a:xfrm>
          <a:prstGeom prst="roundRect">
            <a:avLst>
              <a:gd name="adj" fmla="val 10294"/>
            </a:avLst>
          </a:prstGeom>
          <a:solidFill>
            <a:srgbClr val="132A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7955280" y="1946160"/>
            <a:ext cx="31543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Photodiode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(BPW34)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9532440" y="2567880"/>
            <a:ext cx="360" cy="182880"/>
          </a:xfrm>
          <a:prstGeom prst="line">
            <a:avLst/>
          </a:prstGeom>
          <a:ln w="25400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Shape 19"/>
          <p:cNvSpPr/>
          <p:nvPr/>
        </p:nvSpPr>
        <p:spPr>
          <a:xfrm>
            <a:off x="7772400" y="2750760"/>
            <a:ext cx="3520080" cy="621360"/>
          </a:xfrm>
          <a:prstGeom prst="roundRect">
            <a:avLst>
              <a:gd name="adj" fmla="val 10294"/>
            </a:avLst>
          </a:prstGeom>
          <a:solidFill>
            <a:srgbClr val="132A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Text 20"/>
          <p:cNvSpPr/>
          <p:nvPr/>
        </p:nvSpPr>
        <p:spPr>
          <a:xfrm>
            <a:off x="7955280" y="2750760"/>
            <a:ext cx="31543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Inverting TIA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(LM358P)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1"/>
          <p:cNvSpPr/>
          <p:nvPr/>
        </p:nvSpPr>
        <p:spPr>
          <a:xfrm>
            <a:off x="9532440" y="3372480"/>
            <a:ext cx="360" cy="182880"/>
          </a:xfrm>
          <a:prstGeom prst="line">
            <a:avLst/>
          </a:prstGeom>
          <a:ln w="25400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Shape 22"/>
          <p:cNvSpPr/>
          <p:nvPr/>
        </p:nvSpPr>
        <p:spPr>
          <a:xfrm>
            <a:off x="7772400" y="3555360"/>
            <a:ext cx="3520080" cy="621360"/>
          </a:xfrm>
          <a:prstGeom prst="roundRect">
            <a:avLst>
              <a:gd name="adj" fmla="val 10294"/>
            </a:avLst>
          </a:prstGeom>
          <a:solidFill>
            <a:srgbClr val="132A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23"/>
          <p:cNvSpPr/>
          <p:nvPr/>
        </p:nvSpPr>
        <p:spPr>
          <a:xfrm>
            <a:off x="7955280" y="3555360"/>
            <a:ext cx="31543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Feedback R + C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4"/>
          <p:cNvSpPr/>
          <p:nvPr/>
        </p:nvSpPr>
        <p:spPr>
          <a:xfrm>
            <a:off x="9532440" y="4177080"/>
            <a:ext cx="360" cy="182880"/>
          </a:xfrm>
          <a:prstGeom prst="line">
            <a:avLst/>
          </a:prstGeom>
          <a:ln w="25400">
            <a:solidFill>
              <a:srgbClr val="F5A62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Shape 25"/>
          <p:cNvSpPr/>
          <p:nvPr/>
        </p:nvSpPr>
        <p:spPr>
          <a:xfrm>
            <a:off x="7772400" y="4359960"/>
            <a:ext cx="3520080" cy="621360"/>
          </a:xfrm>
          <a:prstGeom prst="roundRect">
            <a:avLst>
              <a:gd name="adj" fmla="val 10294"/>
            </a:avLst>
          </a:prstGeom>
          <a:solidFill>
            <a:srgbClr val="132A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Text 26"/>
          <p:cNvSpPr/>
          <p:nvPr/>
        </p:nvSpPr>
        <p:spPr>
          <a:xfrm>
            <a:off x="7955280" y="4359960"/>
            <a:ext cx="31543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Buffered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  <a:ea typeface="Calibri"/>
              </a:rPr>
              <a:t>Output Voltage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7"/>
          <p:cNvSpPr/>
          <p:nvPr/>
        </p:nvSpPr>
        <p:spPr>
          <a:xfrm>
            <a:off x="7863840" y="512532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i="1" strike="noStrike" spc="-1">
                <a:solidFill>
                  <a:srgbClr val="9FB0C9"/>
                </a:solidFill>
                <a:latin typeface="Calibri"/>
                <a:ea typeface="Calibri"/>
              </a:rPr>
              <a:t>Gain per channel is fixed by the 100 kΩ feedback resistor, with the parallel 12 pF capacitor stabilizing the response — giving predictable, repeatable calibration across all four sensing channels.</a:t>
            </a:r>
            <a:endParaRPr lang="en-GB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28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548640" y="3841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HARDWARE · HOUSEKEEPING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548640" y="6584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42238"/>
                </a:solidFill>
                <a:latin typeface="Cambria"/>
                <a:ea typeface="Cambria"/>
              </a:rPr>
              <a:t>Thermal Monitoring &amp; Status Indication</a:t>
            </a:r>
            <a:endParaRPr lang="en-GB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777240" y="1892880"/>
            <a:ext cx="749520" cy="74952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5" name="Image 0" descr="preencoded.png"/>
          <p:cNvPicPr/>
          <p:nvPr/>
        </p:nvPicPr>
        <p:blipFill>
          <a:blip r:embed="rId3"/>
          <a:stretch/>
        </p:blipFill>
        <p:spPr>
          <a:xfrm>
            <a:off x="972360" y="2087640"/>
            <a:ext cx="359640" cy="359640"/>
          </a:xfrm>
          <a:prstGeom prst="rect">
            <a:avLst/>
          </a:prstGeom>
          <a:ln w="0">
            <a:noFill/>
          </a:ln>
        </p:spPr>
      </p:pic>
      <p:sp>
        <p:nvSpPr>
          <p:cNvPr id="276" name="Text 4"/>
          <p:cNvSpPr/>
          <p:nvPr/>
        </p:nvSpPr>
        <p:spPr>
          <a:xfrm>
            <a:off x="1691640" y="1819800"/>
            <a:ext cx="8869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2× DS18B20 Digital Sensors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1691640" y="2148840"/>
            <a:ext cx="90522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 err="1">
                <a:solidFill>
                  <a:srgbClr val="5C6B85"/>
                </a:solidFill>
                <a:latin typeface="Calibri"/>
                <a:ea typeface="Calibri"/>
              </a:rPr>
              <a:t>OneWire</a:t>
            </a: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 bus on GPIO4 and GPIO5 with a 4.7 </a:t>
            </a:r>
            <a:r>
              <a:rPr lang="en-US" sz="1800" b="0" strike="noStrike" spc="-1" dirty="0" err="1">
                <a:solidFill>
                  <a:srgbClr val="5C6B85"/>
                </a:solidFill>
                <a:latin typeface="Calibri"/>
                <a:ea typeface="Calibri"/>
              </a:rPr>
              <a:t>kΩ</a:t>
            </a: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 pull-up resistor. Dual placement tracks thermal gradients across the sensor board — not required by the competition, but added for robustness.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777240" y="3218760"/>
            <a:ext cx="749520" cy="74952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9" name="Image 1" descr="preencoded.png"/>
          <p:cNvPicPr/>
          <p:nvPr/>
        </p:nvPicPr>
        <p:blipFill>
          <a:blip r:embed="rId4"/>
          <a:stretch/>
        </p:blipFill>
        <p:spPr>
          <a:xfrm>
            <a:off x="972360" y="3413520"/>
            <a:ext cx="359640" cy="359640"/>
          </a:xfrm>
          <a:prstGeom prst="rect">
            <a:avLst/>
          </a:prstGeom>
          <a:ln w="0">
            <a:noFill/>
          </a:ln>
        </p:spPr>
      </p:pic>
      <p:sp>
        <p:nvSpPr>
          <p:cNvPr id="280" name="Text 8"/>
          <p:cNvSpPr/>
          <p:nvPr/>
        </p:nvSpPr>
        <p:spPr>
          <a:xfrm>
            <a:off x="1691640" y="3145680"/>
            <a:ext cx="8869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White Status LED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1691640" y="3474720"/>
            <a:ext cx="90522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Illuminates during </a:t>
            </a:r>
            <a:r>
              <a:rPr lang="en-US" spc="-1" dirty="0">
                <a:solidFill>
                  <a:srgbClr val="5C6B85"/>
                </a:solidFill>
                <a:latin typeface="Calibri"/>
                <a:ea typeface="Calibri"/>
              </a:rPr>
              <a:t>sun presence</a:t>
            </a: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777240" y="4544640"/>
            <a:ext cx="749520" cy="74952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3" name="Image 2" descr="preencoded.png"/>
          <p:cNvPicPr/>
          <p:nvPr/>
        </p:nvPicPr>
        <p:blipFill>
          <a:blip r:embed="rId5"/>
          <a:stretch/>
        </p:blipFill>
        <p:spPr>
          <a:xfrm>
            <a:off x="972360" y="4739400"/>
            <a:ext cx="359640" cy="359640"/>
          </a:xfrm>
          <a:prstGeom prst="rect">
            <a:avLst/>
          </a:prstGeom>
          <a:ln w="0">
            <a:noFill/>
          </a:ln>
        </p:spPr>
      </p:pic>
      <p:sp>
        <p:nvSpPr>
          <p:cNvPr id="284" name="Text 12"/>
          <p:cNvSpPr/>
          <p:nvPr/>
        </p:nvSpPr>
        <p:spPr>
          <a:xfrm>
            <a:off x="1691640" y="4471560"/>
            <a:ext cx="8869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142238"/>
                </a:solidFill>
                <a:latin typeface="Cambria"/>
                <a:ea typeface="Cambria"/>
              </a:rPr>
              <a:t>Red Status LED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3"/>
          <p:cNvSpPr/>
          <p:nvPr/>
        </p:nvSpPr>
        <p:spPr>
          <a:xfrm>
            <a:off x="1691640" y="4800600"/>
            <a:ext cx="90522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Illuminates when the temperature is greater than 30, giving an at-a-glance operational check without the GUI.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541080" y="5833800"/>
            <a:ext cx="11109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rgbClr val="5C6B85"/>
                </a:solidFill>
                <a:latin typeface="Calibri"/>
                <a:ea typeface="Calibri"/>
              </a:rPr>
              <a:t>Resistors: 220 Ω current-limiting on each status LED · 4.7 kΩ pull-up on the OneWire temperature bus.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5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3"/>
          <p:cNvSpPr/>
          <p:nvPr/>
        </p:nvSpPr>
        <p:spPr>
          <a:xfrm>
            <a:off x="4201920" y="246960"/>
            <a:ext cx="37879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dk1"/>
                </a:solidFill>
                <a:latin typeface="Calibri"/>
              </a:rPr>
              <a:t>Breadboard connections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25"/>
          <p:cNvPicPr/>
          <p:nvPr/>
        </p:nvPicPr>
        <p:blipFill>
          <a:blip r:embed="rId3"/>
          <a:stretch/>
        </p:blipFill>
        <p:spPr>
          <a:xfrm rot="16200000">
            <a:off x="3274560" y="361080"/>
            <a:ext cx="5642280" cy="6857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3"/>
          <p:cNvSpPr/>
          <p:nvPr/>
        </p:nvSpPr>
        <p:spPr>
          <a:xfrm>
            <a:off x="5152680" y="377280"/>
            <a:ext cx="18864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dk1"/>
                </a:solidFill>
                <a:latin typeface="Calibri"/>
              </a:rPr>
              <a:t>PCB Design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Picture 5"/>
          <p:cNvPicPr/>
          <p:nvPr/>
        </p:nvPicPr>
        <p:blipFill>
          <a:blip r:embed="rId3"/>
          <a:srcRect t="27753" b="26775"/>
          <a:stretch/>
        </p:blipFill>
        <p:spPr>
          <a:xfrm>
            <a:off x="6300000" y="1635120"/>
            <a:ext cx="4920840" cy="430488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7"/>
          <p:cNvPicPr/>
          <p:nvPr/>
        </p:nvPicPr>
        <p:blipFill>
          <a:blip r:embed="rId4"/>
          <a:srcRect t="2612"/>
          <a:stretch/>
        </p:blipFill>
        <p:spPr>
          <a:xfrm>
            <a:off x="1061640" y="1620000"/>
            <a:ext cx="5058360" cy="432000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3301920" y="6159240"/>
            <a:ext cx="3718080" cy="32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  <a:ea typeface="Microsoft YaHei"/>
              </a:rPr>
              <a:t>(1)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30099" y="1189620"/>
            <a:ext cx="3718080" cy="32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chemeClr val="dk1"/>
                </a:solidFill>
                <a:latin typeface="Calibri"/>
                <a:ea typeface="Microsoft YaHei"/>
              </a:rPr>
              <a:t> </a:t>
            </a:r>
            <a:r>
              <a:rPr lang="en-US" spc="-1" dirty="0">
                <a:solidFill>
                  <a:schemeClr val="dk1"/>
                </a:solidFill>
                <a:latin typeface="Calibri"/>
                <a:ea typeface="Microsoft YaHei"/>
              </a:rPr>
              <a:t>T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  <a:ea typeface="Microsoft YaHei"/>
              </a:rPr>
              <a:t>wo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-layer PCB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8479440" y="6120000"/>
            <a:ext cx="2320560" cy="32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(2)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ble">
            <a:extLst>
              <a:ext uri="{FF2B5EF4-FFF2-40B4-BE49-F238E27FC236}">
                <a16:creationId xmlns:a16="http://schemas.microsoft.com/office/drawing/2014/main" id="{6E828F7C-B57A-7820-9FE9-CD2A332F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80" y="4296480"/>
            <a:ext cx="5532120" cy="2096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7E640-5832-C9D2-DE37-DD59BFADE20A}"/>
              </a:ext>
            </a:extLst>
          </p:cNvPr>
          <p:cNvSpPr/>
          <p:nvPr/>
        </p:nvSpPr>
        <p:spPr>
          <a:xfrm rot="21597600">
            <a:off x="105600" y="1002480"/>
            <a:ext cx="7661880" cy="324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5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Grouping the analog signal path (photodiodes ,op-amps and ADC) close together to keep those traces short to reduce the noise since the generated signal is very weak.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743040" lvl="1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Rounded corners to improve signal integrity since Sudden changes in trace geometry can create impedance discontinuities, which may introduce signal reflections and degrade performance.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85A3352-B912-AE4E-6F7A-014ABCE37A10}"/>
              </a:ext>
            </a:extLst>
          </p:cNvPr>
          <p:cNvSpPr/>
          <p:nvPr/>
        </p:nvSpPr>
        <p:spPr>
          <a:xfrm>
            <a:off x="5066400" y="465360"/>
            <a:ext cx="18860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dk1"/>
                </a:solidFill>
                <a:latin typeface="Calibri"/>
              </a:rPr>
              <a:t>PCB Design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9D11E-4A90-2D2D-E467-70CE442EAB0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766400" y="1545360"/>
            <a:ext cx="4320000" cy="46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A489141C-64CA-15DC-07F4-BE278B0D377D}"/>
              </a:ext>
            </a:extLst>
          </p:cNvPr>
          <p:cNvSpPr/>
          <p:nvPr/>
        </p:nvSpPr>
        <p:spPr>
          <a:xfrm>
            <a:off x="5398860" y="459360"/>
            <a:ext cx="294732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chemeClr val="dk1"/>
                </a:solidFill>
                <a:latin typeface="Calibri"/>
              </a:rPr>
              <a:t>PCB Connections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412CB-ACC6-239C-BD46-0A6B39D2CA9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6180" y="1162080"/>
            <a:ext cx="5170320" cy="523656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8BA317-D82D-41B2-9B24-01B03F043C09}"/>
              </a:ext>
            </a:extLst>
          </p:cNvPr>
          <p:cNvPicPr/>
          <p:nvPr/>
        </p:nvPicPr>
        <p:blipFill>
          <a:blip r:embed="rId3"/>
          <a:srcRect l="11147" t="15498" r="11334" b="24128"/>
          <a:stretch/>
        </p:blipFill>
        <p:spPr>
          <a:xfrm>
            <a:off x="6546180" y="1162080"/>
            <a:ext cx="4679640" cy="52200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112891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"/>
          <p:cNvPicPr/>
          <p:nvPr/>
        </p:nvPicPr>
        <p:blipFill>
          <a:blip r:embed="rId3"/>
          <a:stretch/>
        </p:blipFill>
        <p:spPr>
          <a:xfrm>
            <a:off x="-96840" y="0"/>
            <a:ext cx="12389760" cy="6843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B6AC-A08E-E88D-3AFF-7336F26D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83DAAC-B832-9B50-9C41-ECFFB7C484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503" y="0"/>
            <a:ext cx="7194780" cy="6348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194ACD-4E97-00FD-44FE-0BD2C703BF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800" y="1751309"/>
            <a:ext cx="7718822" cy="476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69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6315C2-304E-762A-9F7A-A76A2E5DD5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52" y="-67787"/>
            <a:ext cx="5284034" cy="6993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BC4E0-F45A-A9D9-4B79-5D7499BB88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274" y="0"/>
            <a:ext cx="6388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13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548640" y="2016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199">
                <a:solidFill>
                  <a:srgbClr val="F5A623"/>
                </a:solidFill>
                <a:latin typeface="Calibri"/>
                <a:ea typeface="Calibri"/>
              </a:rPr>
              <a:t>SOFTWARE · GROUND SEGMENT</a:t>
            </a:r>
            <a:endParaRPr lang="en-GB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548640" y="458257"/>
            <a:ext cx="10515240" cy="572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42238"/>
                </a:solidFill>
                <a:latin typeface="Cambria"/>
                <a:ea typeface="Cambria"/>
              </a:rPr>
              <a:t>Python Ground Control GUI</a:t>
            </a:r>
            <a:endParaRPr lang="en-GB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57200" y="1024650"/>
            <a:ext cx="11244187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C6B85"/>
                </a:solidFill>
                <a:latin typeface="Calibri"/>
                <a:ea typeface="Calibri"/>
              </a:rPr>
              <a:t>The ground-side GUI gives the operator a live window into subsystem health and sun-tracking performance during test and demonstration.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3"/>
          <p:cNvSpPr/>
          <p:nvPr/>
        </p:nvSpPr>
        <p:spPr>
          <a:xfrm>
            <a:off x="3200220" y="1517940"/>
            <a:ext cx="6438600" cy="5312880"/>
          </a:xfrm>
          <a:prstGeom prst="roundRect">
            <a:avLst>
              <a:gd name="adj" fmla="val 2041"/>
            </a:avLst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outerShdw blurRad="101520" dist="38160" dir="5400000" algn="bl" rotWithShape="0">
              <a:srgbClr val="0B1B33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Text 39"/>
          <p:cNvSpPr/>
          <p:nvPr/>
        </p:nvSpPr>
        <p:spPr>
          <a:xfrm>
            <a:off x="6903720" y="473652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SUN DETECTED — Node ID 01</a:t>
            </a:r>
            <a:endParaRPr lang="en-GB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0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C6B85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8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FB0C9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16"/>
          <p:cNvSpPr/>
          <p:nvPr/>
        </p:nvSpPr>
        <p:spPr>
          <a:xfrm>
            <a:off x="651960" y="557760"/>
            <a:ext cx="8173080" cy="27814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200000"/>
              </a:lnSpc>
              <a:buClr>
                <a:srgbClr val="142238"/>
              </a:buClr>
              <a:buFont typeface="Wingdings" charset="2"/>
              <a:buChar char=""/>
            </a:pP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Improve angular accuracy through multi-point calibration.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142238"/>
              </a:buClr>
              <a:buFont typeface="Wingdings" charset="2"/>
              <a:buChar char=""/>
            </a:pP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Increase telemetry update rate </a:t>
            </a:r>
            <a:r>
              <a:rPr lang="en-US" spc="-1" dirty="0">
                <a:solidFill>
                  <a:srgbClr val="142238"/>
                </a:solidFill>
                <a:latin typeface="Calibri"/>
                <a:ea typeface="Calibri"/>
              </a:rPr>
              <a:t>above 10HZ</a:t>
            </a: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.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142238"/>
              </a:buClr>
              <a:buFont typeface="Wingdings" charset="2"/>
              <a:buChar char=""/>
            </a:pPr>
            <a:r>
              <a:rPr lang="en-US" spc="-1" dirty="0">
                <a:solidFill>
                  <a:srgbClr val="142238"/>
                </a:solidFill>
                <a:latin typeface="Calibri"/>
                <a:ea typeface="Calibri"/>
              </a:rPr>
              <a:t>Replace ESP32 with STM32</a:t>
            </a: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.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142238"/>
              </a:buClr>
              <a:buFont typeface="Wingdings" charset="2"/>
              <a:buChar char=""/>
            </a:pP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Implement automatic self-calibration and temperature compensation.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200000"/>
              </a:lnSpc>
              <a:buClr>
                <a:srgbClr val="142238"/>
              </a:buClr>
              <a:buFont typeface="Wingdings" charset="2"/>
              <a:buChar char=""/>
            </a:pPr>
            <a:r>
              <a:rPr lang="en-US" b="0" strike="noStrike" spc="-1" dirty="0">
                <a:solidFill>
                  <a:srgbClr val="142238"/>
                </a:solidFill>
                <a:latin typeface="Calibri"/>
                <a:ea typeface="Calibri"/>
              </a:rPr>
              <a:t>Develop a more advanced GUI with 3D visualization and data export.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651960" y="255760"/>
            <a:ext cx="617868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142238"/>
                </a:solidFill>
                <a:latin typeface="Cambria"/>
                <a:ea typeface="Cambria"/>
              </a:rPr>
              <a:t>Future trends</a:t>
            </a:r>
            <a:endParaRPr lang="en-GB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0"/>
          <p:cNvSpPr/>
          <p:nvPr/>
        </p:nvSpPr>
        <p:spPr>
          <a:xfrm>
            <a:off x="8138160" y="-2468880"/>
            <a:ext cx="6583320" cy="658332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5" name="Shape 1"/>
          <p:cNvSpPr/>
          <p:nvPr/>
        </p:nvSpPr>
        <p:spPr>
          <a:xfrm>
            <a:off x="8961120" y="-1645920"/>
            <a:ext cx="4937400" cy="493740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9738360" y="-868680"/>
            <a:ext cx="3382920" cy="3382920"/>
          </a:xfrm>
          <a:prstGeom prst="ellipse">
            <a:avLst/>
          </a:prstGeom>
          <a:noFill/>
          <a:ln w="15875">
            <a:solidFill>
              <a:srgbClr val="1B3A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10658007" y="320040"/>
            <a:ext cx="1274553" cy="1283908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710483C4-6ED0-AAF1-C7E2-27F998542919}"/>
              </a:ext>
            </a:extLst>
          </p:cNvPr>
          <p:cNvSpPr/>
          <p:nvPr/>
        </p:nvSpPr>
        <p:spPr>
          <a:xfrm>
            <a:off x="651960" y="3746280"/>
            <a:ext cx="8961000" cy="25409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Successfully developed a functional Coarse Sun Sensor for satellite attitude determination.</a:t>
            </a:r>
          </a:p>
          <a:p>
            <a:pPr>
              <a:lnSpc>
                <a:spcPct val="150000"/>
              </a:lnSpc>
            </a:pPr>
            <a:r>
              <a:rPr lang="en-US" dirty="0"/>
              <a:t>Achieved real-time Sun angle estimation, Sun detection, temperature monitoring, and telemetry transmission.</a:t>
            </a:r>
          </a:p>
          <a:p>
            <a:pPr>
              <a:lnSpc>
                <a:spcPct val="150000"/>
              </a:lnSpc>
            </a:pPr>
            <a:r>
              <a:rPr lang="en-US" dirty="0"/>
              <a:t>Met the main competition requirements, including ≥5 Hz update rate and ≥±80° Field of View.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Delivered a reliable, low-cost, and scalable system suitable for CubeSat missions, with potential for future improvements.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3327E49-8A87-0CD4-751D-54C1979EA890}"/>
              </a:ext>
            </a:extLst>
          </p:cNvPr>
          <p:cNvSpPr/>
          <p:nvPr/>
        </p:nvSpPr>
        <p:spPr>
          <a:xfrm>
            <a:off x="651960" y="3316102"/>
            <a:ext cx="609552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142238"/>
                </a:solidFill>
                <a:latin typeface="Cambria"/>
                <a:ea typeface="Cambria"/>
              </a:rPr>
              <a:t>Conclusion</a:t>
            </a:r>
            <a:endParaRPr lang="en-GB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182880" y="2057400"/>
            <a:ext cx="2742840" cy="2742840"/>
          </a:xfrm>
          <a:prstGeom prst="ellipse">
            <a:avLst/>
          </a:prstGeom>
          <a:noFill/>
          <a:ln w="15875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594360" y="2468880"/>
            <a:ext cx="1919880" cy="1919880"/>
          </a:xfrm>
          <a:prstGeom prst="ellipse">
            <a:avLst/>
          </a:prstGeom>
          <a:noFill/>
          <a:ln w="15875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1188720" y="3063240"/>
            <a:ext cx="731160" cy="73116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3337200" y="3066628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i="1" strike="noStrike" spc="-1" dirty="0">
                <a:solidFill>
                  <a:schemeClr val="bg1"/>
                </a:solidFill>
                <a:latin typeface="Cambria"/>
                <a:ea typeface="Cambria"/>
              </a:rPr>
              <a:t>Thank you — questions welcome.</a:t>
            </a:r>
            <a:endParaRPr lang="en-GB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45720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FB0C9"/>
                </a:solidFill>
                <a:latin typeface="Calibri"/>
                <a:ea typeface="Calibri"/>
              </a:rPr>
              <a:t>Coarse Sun Sensor CDR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4" name="Straight Connector 13"/>
          <p:cNvCxnSpPr/>
          <p:nvPr/>
        </p:nvCxnSpPr>
        <p:spPr>
          <a:xfrm>
            <a:off x="3337200" y="3764848"/>
            <a:ext cx="7920000" cy="360"/>
          </a:xfrm>
          <a:prstGeom prst="straightConnector1">
            <a:avLst/>
          </a:prstGeom>
          <a:ln>
            <a:solidFill>
              <a:schemeClr val="bg1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2040</TotalTime>
  <Words>1279</Words>
  <Application>Microsoft Office PowerPoint</Application>
  <PresentationFormat>Widescreen</PresentationFormat>
  <Paragraphs>234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23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Office Theme</vt:lpstr>
      <vt:lpstr>Custom Design</vt:lpstr>
      <vt:lpstr>Custom Design</vt:lpstr>
      <vt:lpstr>Custom Design</vt:lpstr>
      <vt:lpstr>Custom Design</vt:lpstr>
      <vt:lpstr>Custom Design</vt:lpstr>
      <vt:lpstr>Custom Design</vt:lpstr>
      <vt:lpstr>Custom Design</vt:lpstr>
      <vt:lpstr>Custom Design</vt:lpstr>
      <vt:lpstr>Custom Design</vt:lpstr>
      <vt:lpstr>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Coarse Sun Sensor — Critical Design Review</dc:title>
  <dc:subject>PptxGenJS Presentation</dc:subject>
  <dc:creator>SATC-6 Team</dc:creator>
  <dc:description/>
  <cp:lastModifiedBy>Habiba Ghaly</cp:lastModifiedBy>
  <cp:revision>25</cp:revision>
  <cp:lastPrinted>2026-07-12T12:13:54Z</cp:lastPrinted>
  <dcterms:created xsi:type="dcterms:W3CDTF">2026-07-09T10:23:37Z</dcterms:created>
  <dcterms:modified xsi:type="dcterms:W3CDTF">2026-07-12T20:54:21Z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0x0101005E98A7E9194B3E4C8A9421B11433808A</vt:lpwstr>
  </property>
  <property fmtid="{D5CDD505-2E9C-101B-9397-08002B2CF9AE}" pid="3" name="Notes">
    <vt:i4>15</vt:i4>
  </property>
  <property fmtid="{D5CDD505-2E9C-101B-9397-08002B2CF9AE}" pid="4" name="PresentationFormat">
    <vt:lpwstr>Widescreen</vt:lpwstr>
  </property>
  <property fmtid="{D5CDD505-2E9C-101B-9397-08002B2CF9AE}" pid="5" name="Slides">
    <vt:i4>24</vt:i4>
  </property>
</Properties>
</file>